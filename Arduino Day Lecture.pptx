
<file path=[Content_Types].xml><?xml version="1.0" encoding="utf-8"?>
<Types xmlns="http://schemas.openxmlformats.org/package/2006/content-types">
  <Default Extension="gif" ContentType="image/gif"/>
  <Default Extension="jpe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85" r:id="rId6"/>
    <p:sldId id="267" r:id="rId7"/>
    <p:sldId id="259" r:id="rId8"/>
    <p:sldId id="261" r:id="rId9"/>
    <p:sldId id="262" r:id="rId10"/>
    <p:sldId id="271" r:id="rId11"/>
    <p:sldId id="272" r:id="rId12"/>
    <p:sldId id="275" r:id="rId13"/>
    <p:sldId id="281" r:id="rId14"/>
    <p:sldId id="292" r:id="rId15"/>
    <p:sldId id="276" r:id="rId16"/>
    <p:sldId id="293" r:id="rId17"/>
    <p:sldId id="279" r:id="rId18"/>
    <p:sldId id="294" r:id="rId19"/>
    <p:sldId id="289" r:id="rId20"/>
    <p:sldId id="291" r:id="rId21"/>
    <p:sldId id="265" r:id="rId22"/>
    <p:sldId id="284" r:id="rId23"/>
    <p:sldId id="260" r:id="rId24"/>
    <p:sldId id="268" r:id="rId25"/>
    <p:sldId id="295" r:id="rId26"/>
    <p:sldId id="282" r:id="rId27"/>
    <p:sldId id="269" r:id="rId28"/>
    <p:sldId id="283" r:id="rId29"/>
    <p:sldId id="296" r:id="rId30"/>
    <p:sldId id="288" r:id="rId31"/>
    <p:sldId id="274" r:id="rId32"/>
    <p:sldId id="273" r:id="rId33"/>
    <p:sldId id="258" r:id="rId34"/>
    <p:sldId id="280" r:id="rId35"/>
    <p:sldId id="286" r:id="rId36"/>
    <p:sldId id="297" r:id="rId37"/>
    <p:sldId id="287" r:id="rId38"/>
    <p:sldId id="270" r:id="rId39"/>
    <p:sldId id="298" r:id="rId40"/>
    <p:sldId id="299" r:id="rId41"/>
    <p:sldId id="300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825" autoAdjust="0"/>
    <p:restoredTop sz="94660"/>
  </p:normalViewPr>
  <p:slideViewPr>
    <p:cSldViewPr snapToGrid="0">
      <p:cViewPr varScale="1">
        <p:scale>
          <a:sx n="63" d="100"/>
          <a:sy n="63" d="100"/>
        </p:scale>
        <p:origin x="1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3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15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4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63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90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06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89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6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4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64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4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62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arduino.cc/en/software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Arduino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BE1200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97AD8-07C2-C374-D3D0-DAE937CC0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Download Arduino IDE: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E39DD-EDDE-7485-2E55-1BBF45DB1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  <a:hlinkClick r:id="rId2"/>
              </a:rPr>
              <a:t>https://www.arduino.cc/en/software/</a:t>
            </a:r>
            <a:endParaRPr lang="en-US">
              <a:ea typeface="+mn-lt"/>
              <a:cs typeface="+mn-lt"/>
            </a:endParaRP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4" name="Picture 3" descr="Software | Arduino">
            <a:extLst>
              <a:ext uri="{FF2B5EF4-FFF2-40B4-BE49-F238E27FC236}">
                <a16:creationId xmlns:a16="http://schemas.microsoft.com/office/drawing/2014/main" id="{45D43976-3C36-3BC1-A4C6-477DEBB8E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276" y="2390855"/>
            <a:ext cx="616267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711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C5135-7A8E-E2CD-8983-46EB83535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Basics: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C84D9-FC15-A42B-02FD-3671C0C1B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79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B5107-F74C-89A1-8EE4-855F2D590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Arduino?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68B60-492F-1FBF-15D5-000EBA766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7348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Programable microcontroller that can take in inputs and produce outputs</a:t>
            </a:r>
            <a:endParaRPr lang="en-US" dirty="0"/>
          </a:p>
          <a:p>
            <a:pPr lvl="1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Ex: push a button and light an LED</a:t>
            </a:r>
          </a:p>
          <a:p>
            <a:r>
              <a:rPr lang="en-US" dirty="0"/>
              <a:t>Microcontroller commonly used in home projects and prototyping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Able to remember code</a:t>
            </a:r>
          </a:p>
        </p:txBody>
      </p:sp>
      <p:pic>
        <p:nvPicPr>
          <p:cNvPr id="3074" name="Picture 2" descr="What is an Arduino? - SparkFun Learn">
            <a:extLst>
              <a:ext uri="{FF2B5EF4-FFF2-40B4-BE49-F238E27FC236}">
                <a16:creationId xmlns:a16="http://schemas.microsoft.com/office/drawing/2014/main" id="{5AA18A85-054C-7661-30E8-CB8477968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489" y="1822228"/>
            <a:ext cx="4351259" cy="319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318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2E77A-B008-58B1-09BA-A5044C1D1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235" y="201227"/>
            <a:ext cx="10515600" cy="1325563"/>
          </a:xfrm>
        </p:spPr>
        <p:txBody>
          <a:bodyPr/>
          <a:lstStyle/>
          <a:p>
            <a:r>
              <a:rPr lang="en-US" dirty="0"/>
              <a:t>Overview of Circuits: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6622F-D4C8-A3A6-8A64-922864984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08" y="1443138"/>
            <a:ext cx="745178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Circuit = Path for electric current to flow</a:t>
            </a:r>
          </a:p>
          <a:p>
            <a:r>
              <a:rPr lang="en-US" sz="2200" dirty="0"/>
              <a:t>Circuits need to be closed loop for current to flow</a:t>
            </a:r>
          </a:p>
          <a:p>
            <a:r>
              <a:rPr lang="en-US" sz="2200" dirty="0"/>
              <a:t>Ohms Law: Voltage = Current * Resistance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Voltage = Potential energy per unit charge</a:t>
            </a:r>
          </a:p>
          <a:p>
            <a:r>
              <a:rPr lang="en-US" sz="2200" dirty="0"/>
              <a:t>Current = Flow of electrons</a:t>
            </a:r>
          </a:p>
          <a:p>
            <a:r>
              <a:rPr lang="en-US" sz="2200" dirty="0"/>
              <a:t>Resistance = Measure of how much material is restricting current flow</a:t>
            </a:r>
          </a:p>
          <a:p>
            <a:pPr marL="0" indent="0">
              <a:buNone/>
            </a:pPr>
            <a:endParaRPr lang="en-US" sz="2200" dirty="0">
              <a:ea typeface="Calibri"/>
              <a:cs typeface="Calibri"/>
            </a:endParaRPr>
          </a:p>
        </p:txBody>
      </p:sp>
      <p:pic>
        <p:nvPicPr>
          <p:cNvPr id="1028" name="Picture 4" descr="What is Ohm's Law? (A Simple Explanation) | Electrical4U">
            <a:extLst>
              <a:ext uri="{FF2B5EF4-FFF2-40B4-BE49-F238E27FC236}">
                <a16:creationId xmlns:a16="http://schemas.microsoft.com/office/drawing/2014/main" id="{1F8CA21D-C0A5-55BE-7CB3-98358F575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333" y="2852352"/>
            <a:ext cx="4406197" cy="2430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71AB81-7B90-0472-D2A4-C29F10487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922" y="420230"/>
            <a:ext cx="3658670" cy="2213119"/>
          </a:xfrm>
          <a:prstGeom prst="rect">
            <a:avLst/>
          </a:prstGeom>
        </p:spPr>
      </p:pic>
      <p:pic>
        <p:nvPicPr>
          <p:cNvPr id="10242" name="Picture 2" descr="Calculating resistance (Ohm's Law) - Rhopoint Components">
            <a:extLst>
              <a:ext uri="{FF2B5EF4-FFF2-40B4-BE49-F238E27FC236}">
                <a16:creationId xmlns:a16="http://schemas.microsoft.com/office/drawing/2014/main" id="{D4E7F72D-AD2F-F091-2D74-9BD243149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647" y="4554233"/>
            <a:ext cx="3589308" cy="1123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4544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0EFF-6D79-AE34-03CE-D60450937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Breadboard</a:t>
            </a:r>
            <a:r>
              <a:rPr lang="en-US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A107D-998E-947A-C9F2-AB2C155C7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Solderless prototyping board to create circuits</a:t>
            </a:r>
          </a:p>
          <a:p>
            <a:pPr lvl="1"/>
            <a:endParaRPr lang="en-US" dirty="0"/>
          </a:p>
        </p:txBody>
      </p:sp>
      <p:pic>
        <p:nvPicPr>
          <p:cNvPr id="2050" name="Picture 2" descr="How to Connect a Circuit on a Breadboard | EMT Laboratories – Open  Education Resources">
            <a:extLst>
              <a:ext uri="{FF2B5EF4-FFF2-40B4-BE49-F238E27FC236}">
                <a16:creationId xmlns:a16="http://schemas.microsoft.com/office/drawing/2014/main" id="{9676EB4B-0F59-8DC5-39E8-5F2C720FB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45" y="3165894"/>
            <a:ext cx="6338999" cy="2329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a breadboard and how to use it - Soldered Electronics">
            <a:extLst>
              <a:ext uri="{FF2B5EF4-FFF2-40B4-BE49-F238E27FC236}">
                <a16:creationId xmlns:a16="http://schemas.microsoft.com/office/drawing/2014/main" id="{64384BA6-176A-7FDE-190D-0E44EEDDA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6957" y="3165894"/>
            <a:ext cx="4472263" cy="2329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294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128A-612B-C77F-F10D-A93CF727D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Powering the Breadboard:</a:t>
            </a:r>
          </a:p>
        </p:txBody>
      </p:sp>
      <p:pic>
        <p:nvPicPr>
          <p:cNvPr id="7" name="trim.07AF5E27-A4B0-497C-BCCC-D719CA67FCFA.MOV">
            <a:hlinkClick r:id="" action="ppaction://media"/>
            <a:extLst>
              <a:ext uri="{FF2B5EF4-FFF2-40B4-BE49-F238E27FC236}">
                <a16:creationId xmlns:a16="http://schemas.microsoft.com/office/drawing/2014/main" id="{EE1541A7-AF18-AED9-52E4-E22356C8F49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19538" y="1825625"/>
            <a:ext cx="435133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E2600-B82A-B398-A020-14BE86CEA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Fix: Lighting an LED: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05F7C-7C66-DDB5-CB79-D7B376FBD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WhatsApp Video 2025-10-20 at 15.58.55_79237c7c">
            <a:hlinkClick r:id="" action="ppaction://media"/>
            <a:extLst>
              <a:ext uri="{FF2B5EF4-FFF2-40B4-BE49-F238E27FC236}">
                <a16:creationId xmlns:a16="http://schemas.microsoft.com/office/drawing/2014/main" id="{60253924-128C-55C2-1966-7394D69C0BB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76254" y="1823852"/>
            <a:ext cx="4229595" cy="422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39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7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692F9-180F-BD19-FAA8-6768EA56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vs Analog Pins: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4C45D-6493-66E2-FA65-4C14B27E7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Digital is 0s and 1s </a:t>
            </a:r>
          </a:p>
          <a:p>
            <a:pPr lvl="1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1s and 0s, True or False, Off or On</a:t>
            </a:r>
          </a:p>
          <a:p>
            <a:pPr lvl="1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Arduino has 14 digital pins</a:t>
            </a:r>
          </a:p>
          <a:p>
            <a:pPr lvl="1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Ex: Light Switch</a:t>
            </a:r>
          </a:p>
          <a:p>
            <a:pPr marL="457200" lvl="1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Analog is 0-255</a:t>
            </a:r>
          </a:p>
          <a:p>
            <a:pPr lvl="1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Able to  read/write variables from 0-255</a:t>
            </a:r>
          </a:p>
          <a:p>
            <a:pPr lvl="1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Arduino has 6 analog pins</a:t>
            </a:r>
          </a:p>
          <a:p>
            <a:pPr lvl="1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Ex: Thermostat, Joystick</a:t>
            </a:r>
          </a:p>
          <a:p>
            <a:pPr lvl="1">
              <a:buFont typeface="Courier New"/>
              <a:buChar char="o"/>
            </a:pPr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 descr="Analog vs. digital modulation - Which is better for you?">
            <a:extLst>
              <a:ext uri="{FF2B5EF4-FFF2-40B4-BE49-F238E27FC236}">
                <a16:creationId xmlns:a16="http://schemas.microsoft.com/office/drawing/2014/main" id="{61823096-C9CF-9F2E-7766-B59B84DB5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048" y="1825625"/>
            <a:ext cx="5055030" cy="283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44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6176D-D603-F332-85B4-B6941390C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PWM (Pulse Width Modulation):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D2FB8-2C1B-A9C5-C84A-FB2D3F842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What is it?​</a:t>
            </a:r>
          </a:p>
          <a:p>
            <a:pPr lvl="1" fontAlgn="base"/>
            <a:r>
              <a:rPr lang="en-US" dirty="0"/>
              <a:t>A way to convert a digital signal to analog​</a:t>
            </a:r>
          </a:p>
          <a:p>
            <a:pPr lvl="1" fontAlgn="base"/>
            <a:r>
              <a:rPr lang="en-US" dirty="0"/>
              <a:t>Used to control speed of DC Motors​</a:t>
            </a:r>
          </a:p>
          <a:p>
            <a:pPr fontAlgn="base"/>
            <a:r>
              <a:rPr lang="en-US" dirty="0"/>
              <a:t>Duty Cycle:​</a:t>
            </a:r>
          </a:p>
          <a:p>
            <a:pPr lvl="1" fontAlgn="base"/>
            <a:r>
              <a:rPr lang="en-US" dirty="0"/>
              <a:t>Percentage of time a device is active</a:t>
            </a:r>
          </a:p>
        </p:txBody>
      </p:sp>
      <p:pic>
        <p:nvPicPr>
          <p:cNvPr id="4100" name="Picture 4" descr="A diagram of a duty cycle&#10;&#10;Description automatically generated">
            <a:extLst>
              <a:ext uri="{FF2B5EF4-FFF2-40B4-BE49-F238E27FC236}">
                <a16:creationId xmlns:a16="http://schemas.microsoft.com/office/drawing/2014/main" id="{163E3378-0FAA-0B10-DFC9-1F2C45A03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045" y="1690692"/>
            <a:ext cx="4626453" cy="283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319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BB661-8B01-BF06-C2AE-79F9B68EC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Motors: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D643D-9FBB-7D04-12FC-7DB588B9F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346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1A42-C09D-F75B-8484-B163C7EFA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DC Motor:</a:t>
            </a:r>
            <a:endParaRPr lang="en-US" dirty="0"/>
          </a:p>
        </p:txBody>
      </p:sp>
      <p:pic>
        <p:nvPicPr>
          <p:cNvPr id="1026" name="Picture 2" descr="Small Brushed DC Motor (5V 16500 RPM) with jumper wires – Voltaat">
            <a:extLst>
              <a:ext uri="{FF2B5EF4-FFF2-40B4-BE49-F238E27FC236}">
                <a16:creationId xmlns:a16="http://schemas.microsoft.com/office/drawing/2014/main" id="{DC92D050-F141-1A0E-772F-52B455C7A0E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739" y="446387"/>
            <a:ext cx="2467155" cy="248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FCA989-C23C-5422-C474-0DAB7843F2C9}"/>
              </a:ext>
            </a:extLst>
          </p:cNvPr>
          <p:cNvSpPr txBox="1"/>
          <p:nvPr/>
        </p:nvSpPr>
        <p:spPr>
          <a:xfrm>
            <a:off x="474453" y="1690692"/>
            <a:ext cx="44080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Stands for Direct Current Motor​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Current gets passed through and creates a magnetic field which causes the motor to spin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Needs a motor driver</a:t>
            </a:r>
          </a:p>
        </p:txBody>
      </p:sp>
      <p:pic>
        <p:nvPicPr>
          <p:cNvPr id="1028" name="Picture 4" descr="Operation of a Simple DC Motor Explained – HSC Physics – Science Ready">
            <a:extLst>
              <a:ext uri="{FF2B5EF4-FFF2-40B4-BE49-F238E27FC236}">
                <a16:creationId xmlns:a16="http://schemas.microsoft.com/office/drawing/2014/main" id="{623FF593-B77C-6D7B-0B27-8A84457D9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087" y="3157140"/>
            <a:ext cx="6616460" cy="2317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005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4D28-8C91-B622-8389-BA6F73F4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Stepper Motor: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21CCB-259E-1925-F7E7-C9C28FC9E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5783" y="1690692"/>
            <a:ext cx="5157787" cy="3684588"/>
          </a:xfrm>
        </p:spPr>
        <p:txBody>
          <a:bodyPr>
            <a:normAutofit/>
          </a:bodyPr>
          <a:lstStyle/>
          <a:p>
            <a:r>
              <a:rPr lang="en-US" sz="2200" dirty="0"/>
              <a:t>Rotates in steps rather than continuously</a:t>
            </a:r>
          </a:p>
          <a:p>
            <a:r>
              <a:rPr lang="en-US" sz="2200" dirty="0"/>
              <a:t>Good for precise movements</a:t>
            </a:r>
          </a:p>
          <a:p>
            <a:r>
              <a:rPr lang="en-US" sz="2200" dirty="0"/>
              <a:t>Needs a motor driver</a:t>
            </a:r>
          </a:p>
        </p:txBody>
      </p:sp>
      <p:pic>
        <p:nvPicPr>
          <p:cNvPr id="7" name="Content Placeholder 6" descr="Stepper Motor and Controller Guide - Phidgets Support">
            <a:extLst>
              <a:ext uri="{FF2B5EF4-FFF2-40B4-BE49-F238E27FC236}">
                <a16:creationId xmlns:a16="http://schemas.microsoft.com/office/drawing/2014/main" id="{00BEA424-0695-D19E-CCCF-EC917CEA473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943570" y="3512752"/>
            <a:ext cx="2769559" cy="1862528"/>
          </a:xfrm>
          <a:prstGeom prst="rect">
            <a:avLst/>
          </a:prstGeom>
        </p:spPr>
      </p:pic>
      <p:pic>
        <p:nvPicPr>
          <p:cNvPr id="6146" name="Picture 2" descr="Arduino+DC 5V Stepper Motor Kit ...">
            <a:extLst>
              <a:ext uri="{FF2B5EF4-FFF2-40B4-BE49-F238E27FC236}">
                <a16:creationId xmlns:a16="http://schemas.microsoft.com/office/drawing/2014/main" id="{25D0A2B3-1F95-1108-146E-0D1B5A400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1218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red gear with a hole in the center&#10;&#10;AI-generated content may be incorrect.">
            <a:extLst>
              <a:ext uri="{FF2B5EF4-FFF2-40B4-BE49-F238E27FC236}">
                <a16:creationId xmlns:a16="http://schemas.microsoft.com/office/drawing/2014/main" id="{C2412BCD-7FAE-C3CC-BE9D-232DA2D09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338" y="1690692"/>
            <a:ext cx="2360762" cy="236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60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5CAE4-06CF-0EAC-38D7-633550719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Servo Motor:</a:t>
            </a:r>
          </a:p>
        </p:txBody>
      </p:sp>
      <p:pic>
        <p:nvPicPr>
          <p:cNvPr id="7" name="Content Placeholder 6" descr="Amazon.com: MMOBIEL 5 Pcs SG90 9g Micro Servo Motor Kit for RC  Drone/Car/Airplane/Helicopter/Vehicles/Robots/Compatible with Arduino  Projects and Raspberry Pi Incl. Screws and 15 Servo Arms : Toys &amp; Games">
            <a:extLst>
              <a:ext uri="{FF2B5EF4-FFF2-40B4-BE49-F238E27FC236}">
                <a16:creationId xmlns:a16="http://schemas.microsoft.com/office/drawing/2014/main" id="{BF686D10-D65A-CD53-9340-7C3FFFED5F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20990" y="1349583"/>
            <a:ext cx="2310983" cy="23109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42CC02-192E-9F0D-A491-DA800F7674AD}"/>
              </a:ext>
            </a:extLst>
          </p:cNvPr>
          <p:cNvSpPr txBox="1"/>
          <p:nvPr/>
        </p:nvSpPr>
        <p:spPr>
          <a:xfrm>
            <a:off x="836611" y="1674674"/>
            <a:ext cx="51609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Motor designed for precise control of position​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Has 3 pins (ground, voltage, and a control pin)​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Moves 180 or 360 degrees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No motor driver required</a:t>
            </a:r>
          </a:p>
          <a:p>
            <a:endParaRPr lang="en-US" dirty="0"/>
          </a:p>
        </p:txBody>
      </p:sp>
      <p:pic>
        <p:nvPicPr>
          <p:cNvPr id="5122" name="Picture 2" descr="A close-up of an electrical component&#10;&#10;Description automatically generated">
            <a:extLst>
              <a:ext uri="{FF2B5EF4-FFF2-40B4-BE49-F238E27FC236}">
                <a16:creationId xmlns:a16="http://schemas.microsoft.com/office/drawing/2014/main" id="{F0A17F55-513C-7060-4617-87E5AAFF0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576" y="3885468"/>
            <a:ext cx="5296170" cy="188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478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E3ADF-7FD8-6E2A-3691-ED6306F68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Hardware: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74741-ABE4-7BF8-A909-58B8E812E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600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CFFEF-E726-6C23-C18D-D3A972F2D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Ultrasonic Sensor: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B73A2-BF09-D714-E1B0-CC8B2FFDA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690692"/>
            <a:ext cx="5157787" cy="3684588"/>
          </a:xfrm>
        </p:spPr>
        <p:txBody>
          <a:bodyPr/>
          <a:lstStyle/>
          <a:p>
            <a:r>
              <a:rPr lang="en-US" sz="2200" dirty="0"/>
              <a:t>Measures distance from an object with sound waves</a:t>
            </a:r>
          </a:p>
          <a:p>
            <a:r>
              <a:rPr lang="en-US" sz="2200" dirty="0"/>
              <a:t>The sensor sends out a signal then tracks how much time it took for the signal to come back</a:t>
            </a:r>
          </a:p>
          <a:p>
            <a:endParaRPr lang="en-US" dirty="0"/>
          </a:p>
        </p:txBody>
      </p:sp>
      <p:pic>
        <p:nvPicPr>
          <p:cNvPr id="7" name="Content Placeholder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F37CC14-B5D2-F37B-4B0F-6D70319C5F0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314536" y="3041958"/>
            <a:ext cx="4411124" cy="2477581"/>
          </a:xfrm>
          <a:prstGeom prst="rect">
            <a:avLst/>
          </a:prstGeom>
        </p:spPr>
      </p:pic>
      <p:pic>
        <p:nvPicPr>
          <p:cNvPr id="2050" name="Picture 2" descr="Ultrasonic sensor with arduino uno ...">
            <a:extLst>
              <a:ext uri="{FF2B5EF4-FFF2-40B4-BE49-F238E27FC236}">
                <a16:creationId xmlns:a16="http://schemas.microsoft.com/office/drawing/2014/main" id="{23F115FB-9AE9-A093-274B-F1C7778D1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8685" y="889888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67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6C91B-57AC-CFBE-3AEB-C2E6075B9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32599-42D6-D2B7-4C9B-F1E876F71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49792" cy="4351338"/>
          </a:xfrm>
        </p:spPr>
        <p:txBody>
          <a:bodyPr>
            <a:normAutofit/>
          </a:bodyPr>
          <a:lstStyle/>
          <a:p>
            <a:r>
              <a:rPr lang="en-US" sz="2200" dirty="0"/>
              <a:t>Short for “Light emitting diode”</a:t>
            </a:r>
          </a:p>
          <a:p>
            <a:r>
              <a:rPr lang="en-US" sz="2200" dirty="0"/>
              <a:t>Current flows in one direction </a:t>
            </a:r>
          </a:p>
          <a:p>
            <a:r>
              <a:rPr lang="en-US" sz="2200" dirty="0"/>
              <a:t>Long lead attaches to power</a:t>
            </a:r>
          </a:p>
          <a:p>
            <a:r>
              <a:rPr lang="en-US" sz="2200" dirty="0"/>
              <a:t>Short lead to ground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Long lead = Anode</a:t>
            </a:r>
          </a:p>
          <a:p>
            <a:r>
              <a:rPr lang="en-US" sz="2200" dirty="0"/>
              <a:t>Short Lead = Cathode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Red LED (Pack of 10)">
            <a:extLst>
              <a:ext uri="{FF2B5EF4-FFF2-40B4-BE49-F238E27FC236}">
                <a16:creationId xmlns:a16="http://schemas.microsoft.com/office/drawing/2014/main" id="{E537F3E6-1C03-2010-688F-07830A9420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15" t="12262" r="24008" b="11716"/>
          <a:stretch>
            <a:fillRect/>
          </a:stretch>
        </p:blipFill>
        <p:spPr bwMode="auto">
          <a:xfrm>
            <a:off x="6904010" y="879894"/>
            <a:ext cx="2800707" cy="2406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lectronic Circuit Led Symbols Illustration Basic">
            <a:extLst>
              <a:ext uri="{FF2B5EF4-FFF2-40B4-BE49-F238E27FC236}">
                <a16:creationId xmlns:a16="http://schemas.microsoft.com/office/drawing/2014/main" id="{37A02FE1-42B0-1DCC-7F47-BDA5A584FC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84" t="25070" r="13029" b="30610"/>
          <a:stretch>
            <a:fillRect/>
          </a:stretch>
        </p:blipFill>
        <p:spPr bwMode="auto">
          <a:xfrm>
            <a:off x="6904009" y="3899139"/>
            <a:ext cx="2841881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928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0FB92-4928-A119-5538-5C673782B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Basics: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4F931-5B94-D846-8BAF-741B200A5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79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9AFE4-D702-272C-C497-EFDE44FD6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Useful Definitions: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A99EE-7F2B-CD5C-4C28-A703EE2EE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57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Int = Integer (whole number)</a:t>
            </a:r>
          </a:p>
          <a:p>
            <a:pPr lvl="1"/>
            <a:r>
              <a:rPr lang="en-US" dirty="0">
                <a:ea typeface="Calibri"/>
                <a:cs typeface="Calibri"/>
              </a:rPr>
              <a:t>ex: 2</a:t>
            </a:r>
          </a:p>
          <a:p>
            <a:r>
              <a:rPr lang="en-US" dirty="0">
                <a:ea typeface="Calibri"/>
                <a:cs typeface="Calibri"/>
              </a:rPr>
              <a:t>Void = No return</a:t>
            </a:r>
          </a:p>
          <a:p>
            <a:r>
              <a:rPr lang="en-US" dirty="0">
                <a:ea typeface="Calibri"/>
                <a:cs typeface="Calibri"/>
              </a:rPr>
              <a:t>Function = Block of code used to perform a specific task</a:t>
            </a:r>
          </a:p>
          <a:p>
            <a:r>
              <a:rPr lang="en-US" dirty="0">
                <a:ea typeface="Calibri"/>
                <a:cs typeface="Calibri"/>
              </a:rPr>
              <a:t>Variable = Named placeholder for data</a:t>
            </a:r>
          </a:p>
          <a:p>
            <a:r>
              <a:rPr lang="en-US" dirty="0">
                <a:ea typeface="Calibri"/>
                <a:cs typeface="Calibri"/>
              </a:rPr>
              <a:t>Boolean = Data type that can only be True or False</a:t>
            </a:r>
          </a:p>
          <a:p>
            <a:r>
              <a:rPr lang="en-US" dirty="0">
                <a:ea typeface="Calibri"/>
                <a:cs typeface="Calibri"/>
              </a:rPr>
              <a:t>Logic Operation = Comparison between Booleans</a:t>
            </a:r>
          </a:p>
          <a:p>
            <a:pPr lvl="1"/>
            <a:r>
              <a:rPr lang="en-US" dirty="0">
                <a:ea typeface="Calibri"/>
                <a:cs typeface="Calibri"/>
              </a:rPr>
              <a:t>ex: AND, OR, NOR</a:t>
            </a:r>
          </a:p>
        </p:txBody>
      </p:sp>
    </p:spTree>
    <p:extLst>
      <p:ext uri="{BB962C8B-B14F-4D97-AF65-F5344CB8AC3E}">
        <p14:creationId xmlns:p14="http://schemas.microsoft.com/office/powerpoint/2010/main" val="2181968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5B57-90FD-4943-B6A5-3CF01FC84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If/Else </a:t>
            </a:r>
            <a:r>
              <a:rPr lang="en-US"/>
              <a:t>Statement: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BA296-A4A7-9FB7-4DA6-1F012A469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93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ea typeface="Calibri"/>
                <a:cs typeface="Calibri"/>
              </a:rPr>
              <a:t>Says "If I receive this input do this, anything else do this"</a:t>
            </a:r>
          </a:p>
          <a:p>
            <a:r>
              <a:rPr lang="en-US" sz="2200" dirty="0">
                <a:ea typeface="Calibri"/>
                <a:cs typeface="Calibri"/>
              </a:rPr>
              <a:t>In Arduino (C++) statements will be contained in {}</a:t>
            </a:r>
          </a:p>
          <a:p>
            <a:pPr marL="0" indent="0">
              <a:buNone/>
            </a:pPr>
            <a:endParaRPr lang="en-US"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int </a:t>
            </a:r>
            <a:r>
              <a:rPr lang="en-US" sz="2200" dirty="0" err="1">
                <a:ea typeface="Calibri"/>
                <a:cs typeface="Calibri"/>
              </a:rPr>
              <a:t>i</a:t>
            </a:r>
            <a:r>
              <a:rPr lang="en-US" sz="2200" dirty="0">
                <a:ea typeface="Calibri"/>
                <a:cs typeface="Calibri"/>
              </a:rPr>
              <a:t>=0;</a:t>
            </a:r>
          </a:p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if (</a:t>
            </a:r>
            <a:r>
              <a:rPr lang="en-US" sz="2200" dirty="0" err="1">
                <a:ea typeface="Calibri"/>
                <a:cs typeface="Calibri"/>
              </a:rPr>
              <a:t>i</a:t>
            </a:r>
            <a:r>
              <a:rPr lang="en-US" sz="2200" dirty="0">
                <a:ea typeface="Calibri"/>
                <a:cs typeface="Calibri"/>
              </a:rPr>
              <a:t>&gt;1)</a:t>
            </a:r>
          </a:p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	{do this}</a:t>
            </a:r>
          </a:p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else</a:t>
            </a:r>
          </a:p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	{do this}</a:t>
            </a:r>
          </a:p>
        </p:txBody>
      </p:sp>
      <p:pic>
        <p:nvPicPr>
          <p:cNvPr id="4098" name="Picture 2" descr="If-else Statement in C | Examples of If-else Statement with Flow Chart">
            <a:extLst>
              <a:ext uri="{FF2B5EF4-FFF2-40B4-BE49-F238E27FC236}">
                <a16:creationId xmlns:a16="http://schemas.microsoft.com/office/drawing/2014/main" id="{291DFB9A-C385-D973-0135-94D8ADA55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871" y="3290977"/>
            <a:ext cx="6068929" cy="2575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3059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ABFE8-9CE8-836B-FABD-B900666FA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  <a:r>
              <a:rPr lang="en-US"/>
              <a:t>:</a:t>
            </a:r>
            <a:endParaRPr lang="en-US" dirty="0"/>
          </a:p>
        </p:txBody>
      </p:sp>
      <p:sp>
        <p:nvSpPr>
          <p:cNvPr id="4" name="AutoShape 2" descr="For loop - Wikipedia">
            <a:extLst>
              <a:ext uri="{FF2B5EF4-FFF2-40B4-BE49-F238E27FC236}">
                <a16:creationId xmlns:a16="http://schemas.microsoft.com/office/drawing/2014/main" id="{21D4DAEB-D8F3-F8BD-025B-E9F659D9211C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717431" y="1443533"/>
            <a:ext cx="10515600" cy="3887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r>
              <a:rPr lang="en-US" sz="2400" dirty="0">
                <a:ea typeface="Calibri"/>
                <a:cs typeface="Calibri"/>
              </a:rPr>
              <a:t>Says "For each time in this interval do this“</a:t>
            </a:r>
          </a:p>
          <a:p>
            <a:pPr marL="0" indent="0">
              <a:buNone/>
            </a:pPr>
            <a:endParaRPr lang="en-US" sz="24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>
                <a:ea typeface="Calibri"/>
                <a:cs typeface="Calibri"/>
              </a:rPr>
              <a:t>int add =0;</a:t>
            </a:r>
          </a:p>
          <a:p>
            <a:pPr marL="0" indent="0">
              <a:buNone/>
            </a:pPr>
            <a:r>
              <a:rPr lang="en-US" sz="2400" dirty="0">
                <a:ea typeface="Calibri"/>
                <a:cs typeface="Calibri"/>
              </a:rPr>
              <a:t>for (int </a:t>
            </a:r>
            <a:r>
              <a:rPr lang="en-US" sz="2400" dirty="0" err="1">
                <a:ea typeface="Calibri"/>
                <a:cs typeface="Calibri"/>
              </a:rPr>
              <a:t>i</a:t>
            </a:r>
            <a:r>
              <a:rPr lang="en-US" sz="2400" dirty="0">
                <a:ea typeface="Calibri"/>
                <a:cs typeface="Calibri"/>
              </a:rPr>
              <a:t>=0; </a:t>
            </a:r>
            <a:r>
              <a:rPr lang="en-US" sz="2400" dirty="0" err="1">
                <a:ea typeface="Calibri"/>
                <a:cs typeface="Calibri"/>
              </a:rPr>
              <a:t>i</a:t>
            </a:r>
            <a:r>
              <a:rPr lang="en-US" sz="2400" dirty="0">
                <a:ea typeface="Calibri"/>
                <a:cs typeface="Calibri"/>
              </a:rPr>
              <a:t>&lt;5; </a:t>
            </a:r>
            <a:r>
              <a:rPr lang="en-US" sz="2400" dirty="0" err="1">
                <a:ea typeface="Calibri"/>
                <a:cs typeface="Calibri"/>
              </a:rPr>
              <a:t>i</a:t>
            </a:r>
            <a:r>
              <a:rPr lang="en-US" sz="2400" dirty="0">
                <a:ea typeface="Calibri"/>
                <a:cs typeface="Calibri"/>
              </a:rPr>
              <a:t>++)</a:t>
            </a:r>
          </a:p>
          <a:p>
            <a:pPr marL="0" indent="0">
              <a:buNone/>
            </a:pPr>
            <a:r>
              <a:rPr lang="en-US" sz="2400" dirty="0">
                <a:ea typeface="Calibri"/>
                <a:cs typeface="Calibri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ea typeface="Calibri"/>
                <a:cs typeface="Calibri"/>
              </a:rPr>
              <a:t> add=add+1;</a:t>
            </a:r>
            <a:endParaRPr lang="en-US" dirty="0"/>
          </a:p>
          <a:p>
            <a:pPr marL="0" indent="0">
              <a:buNone/>
            </a:pPr>
            <a:r>
              <a:rPr lang="en-US" sz="2400" dirty="0">
                <a:ea typeface="Calibri"/>
                <a:cs typeface="Calibri"/>
              </a:rPr>
              <a:t>}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 err="1">
                <a:ea typeface="Calibri"/>
                <a:cs typeface="Calibri"/>
              </a:rPr>
              <a:t>Serial.print</a:t>
            </a:r>
            <a:r>
              <a:rPr lang="en-US" sz="2400" dirty="0">
                <a:ea typeface="Calibri"/>
                <a:cs typeface="Calibri"/>
              </a:rPr>
              <a:t>(“Add =”)</a:t>
            </a:r>
          </a:p>
          <a:p>
            <a:pPr marL="0" indent="0">
              <a:buNone/>
            </a:pPr>
            <a:r>
              <a:rPr lang="en-US" sz="2400" dirty="0" err="1">
                <a:ea typeface="Calibri"/>
                <a:cs typeface="Calibri"/>
              </a:rPr>
              <a:t>Serial.print</a:t>
            </a:r>
            <a:r>
              <a:rPr lang="en-US" sz="2400" dirty="0">
                <a:ea typeface="Calibri"/>
                <a:cs typeface="Calibri"/>
              </a:rPr>
              <a:t>(add)</a:t>
            </a:r>
          </a:p>
          <a:p>
            <a:pPr marL="0" indent="0">
              <a:buNone/>
            </a:pPr>
            <a:endParaRPr lang="en-US" sz="24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>
                <a:ea typeface="Calibri"/>
                <a:cs typeface="Calibri"/>
              </a:rPr>
              <a:t>Result: "Add =5"</a:t>
            </a: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F25983-AF1B-DD86-726D-13F425FF9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434" y="1027910"/>
            <a:ext cx="2066571" cy="473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17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E1380-961B-BCE8-19A7-539CE278B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799"/>
            <a:ext cx="10515600" cy="1325563"/>
          </a:xfrm>
        </p:spPr>
        <p:txBody>
          <a:bodyPr/>
          <a:lstStyle/>
          <a:p>
            <a:r>
              <a:rPr lang="en-US" dirty="0"/>
              <a:t>While Loop: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5942D-2266-45FF-A790-AEE146AC7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3979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200" dirty="0"/>
              <a:t>“While this is true do this”</a:t>
            </a:r>
          </a:p>
          <a:p>
            <a:pPr marL="0" indent="0">
              <a:buNone/>
            </a:pPr>
            <a:endParaRPr lang="en-US"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int add =0;</a:t>
            </a:r>
          </a:p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int </a:t>
            </a:r>
            <a:r>
              <a:rPr lang="en-US" sz="2200" dirty="0" err="1">
                <a:ea typeface="Calibri"/>
                <a:cs typeface="Calibri"/>
              </a:rPr>
              <a:t>i</a:t>
            </a:r>
            <a:r>
              <a:rPr lang="en-US" sz="2200" dirty="0">
                <a:ea typeface="Calibri"/>
                <a:cs typeface="Calibri"/>
              </a:rPr>
              <a:t>=0;</a:t>
            </a:r>
          </a:p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while (</a:t>
            </a:r>
            <a:r>
              <a:rPr lang="en-US" sz="2200" dirty="0" err="1">
                <a:ea typeface="Calibri"/>
                <a:cs typeface="Calibri"/>
              </a:rPr>
              <a:t>i</a:t>
            </a:r>
            <a:r>
              <a:rPr lang="en-US" sz="2200" dirty="0">
                <a:ea typeface="Calibri"/>
                <a:cs typeface="Calibri"/>
              </a:rPr>
              <a:t>&lt;5)</a:t>
            </a:r>
          </a:p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	{add=add+1;</a:t>
            </a:r>
          </a:p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    </a:t>
            </a:r>
            <a:r>
              <a:rPr lang="en-US" sz="2200" dirty="0" err="1">
                <a:ea typeface="Calibri"/>
                <a:cs typeface="Calibri"/>
              </a:rPr>
              <a:t>i</a:t>
            </a:r>
            <a:r>
              <a:rPr lang="en-US" sz="2200" dirty="0">
                <a:ea typeface="Calibri"/>
                <a:cs typeface="Calibri"/>
              </a:rPr>
              <a:t>=i+1}</a:t>
            </a:r>
            <a:endParaRPr lang="en-US" dirty="0"/>
          </a:p>
          <a:p>
            <a:pPr marL="0" indent="0">
              <a:buNone/>
            </a:pPr>
            <a:r>
              <a:rPr lang="en-US" sz="2200" dirty="0" err="1">
                <a:ea typeface="Calibri"/>
                <a:cs typeface="Calibri"/>
              </a:rPr>
              <a:t>Serial.print</a:t>
            </a:r>
            <a:r>
              <a:rPr lang="en-US" sz="2200" dirty="0">
                <a:ea typeface="Calibri"/>
                <a:cs typeface="Calibri"/>
              </a:rPr>
              <a:t>(“Add =”)</a:t>
            </a:r>
          </a:p>
          <a:p>
            <a:pPr marL="0" indent="0">
              <a:buNone/>
            </a:pPr>
            <a:r>
              <a:rPr lang="en-US" sz="2200" dirty="0" err="1">
                <a:ea typeface="Calibri"/>
                <a:cs typeface="Calibri"/>
              </a:rPr>
              <a:t>Serial.println</a:t>
            </a:r>
            <a:r>
              <a:rPr lang="en-US" sz="2200" dirty="0">
                <a:ea typeface="Calibri"/>
                <a:cs typeface="Calibri"/>
              </a:rPr>
              <a:t>(add)</a:t>
            </a:r>
          </a:p>
          <a:p>
            <a:pPr marL="0" indent="0">
              <a:buNone/>
            </a:pPr>
            <a:endParaRPr lang="en-US"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Result: "Add =5"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8194" name="Picture 2" descr="Using Loops in Arduino Programming">
            <a:extLst>
              <a:ext uri="{FF2B5EF4-FFF2-40B4-BE49-F238E27FC236}">
                <a16:creationId xmlns:a16="http://schemas.microsoft.com/office/drawing/2014/main" id="{80BDDCE5-2C4F-1827-6552-98BE8B689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186" y="1556095"/>
            <a:ext cx="3026614" cy="374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88878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276D0-3151-35CE-18DF-17F6C0404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4062"/>
            <a:ext cx="10515600" cy="2852737"/>
          </a:xfrm>
        </p:spPr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Arduino Initial Code:</a:t>
            </a:r>
            <a:endParaRPr lang="en-US"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50914AB-3403-9685-DE7E-F6E6B99E4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037" y="489415"/>
            <a:ext cx="4733925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278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FDADB-768C-C9AD-389A-E2EFA610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Void Setup():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1E027-14B9-ECB6-B813-59172A743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258"/>
            <a:ext cx="606293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void setup():</a:t>
            </a:r>
          </a:p>
          <a:p>
            <a:r>
              <a:rPr lang="en-US" dirty="0"/>
              <a:t>Runs once at beginning of code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Where you initialize pins as inputs or outputs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Starts the Serial Monitor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Serial monitor is where you can see print statements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10AF68B-49C2-247A-DE8C-7E38541943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2" t="27587" r="2378" b="44143"/>
          <a:stretch>
            <a:fillRect/>
          </a:stretch>
        </p:blipFill>
        <p:spPr>
          <a:xfrm>
            <a:off x="7142672" y="2454215"/>
            <a:ext cx="4494362" cy="97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2603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9C6B8-BF26-E20E-644D-C11844917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Void Loop():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8AE7C-9C91-20BB-2475-D2DB9C34F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>
                <a:ea typeface="Calibri"/>
                <a:cs typeface="Calibri"/>
              </a:rPr>
              <a:t>void loop():</a:t>
            </a:r>
          </a:p>
          <a:p>
            <a:r>
              <a:rPr lang="en-US" sz="2600">
                <a:ea typeface="Calibri"/>
                <a:cs typeface="Calibri"/>
              </a:rPr>
              <a:t>The main code that will run if there is a power source</a:t>
            </a:r>
          </a:p>
          <a:p>
            <a:r>
              <a:rPr lang="en-US" sz="2600">
                <a:ea typeface="Calibri"/>
                <a:cs typeface="Calibri"/>
              </a:rPr>
              <a:t>Where you application will take place</a:t>
            </a:r>
            <a:endParaRPr lang="en-US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8DC648F-221F-0D04-82A2-1763CF011C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62" t="52477" r="2171" b="19703"/>
          <a:stretch>
            <a:fillRect/>
          </a:stretch>
        </p:blipFill>
        <p:spPr>
          <a:xfrm>
            <a:off x="2761697" y="3804249"/>
            <a:ext cx="6668606" cy="161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16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17501D2-435C-0867-90F3-4518F283C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723" y="1457854"/>
            <a:ext cx="7436733" cy="33732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F40858-CB35-EAF5-3E1C-455B68E2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 Monitor: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76FA0-56EE-9257-9366-6B8789D6F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216" y="1825625"/>
            <a:ext cx="3993354" cy="4351338"/>
          </a:xfrm>
        </p:spPr>
        <p:txBody>
          <a:bodyPr>
            <a:normAutofit/>
          </a:bodyPr>
          <a:lstStyle/>
          <a:p>
            <a:r>
              <a:rPr lang="en-US" sz="2200" dirty="0"/>
              <a:t>Allows for 2-way communication between your computer and the Arduino</a:t>
            </a:r>
          </a:p>
          <a:p>
            <a:r>
              <a:rPr lang="en-US" sz="2200" dirty="0"/>
              <a:t>Able to take user inputs</a:t>
            </a:r>
          </a:p>
          <a:p>
            <a:r>
              <a:rPr lang="en-US" sz="2200" dirty="0"/>
              <a:t>Where print statements will appear</a:t>
            </a:r>
          </a:p>
          <a:p>
            <a:r>
              <a:rPr lang="en-US" sz="2200" dirty="0"/>
              <a:t>Initialize by putting </a:t>
            </a:r>
            <a:r>
              <a:rPr lang="en-US" sz="2200" dirty="0" err="1"/>
              <a:t>Serial.begin</a:t>
            </a:r>
            <a:r>
              <a:rPr lang="en-US" sz="2200" dirty="0"/>
              <a:t>(9600) in the setup function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6D5BB7-3543-F469-8B21-AE21E278B952}"/>
              </a:ext>
            </a:extLst>
          </p:cNvPr>
          <p:cNvCxnSpPr>
            <a:cxnSpLocks/>
          </p:cNvCxnSpPr>
          <p:nvPr/>
        </p:nvCxnSpPr>
        <p:spPr>
          <a:xfrm flipV="1">
            <a:off x="10353136" y="2156604"/>
            <a:ext cx="895709" cy="5821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ADE8C1A-DF33-B994-1952-4CFAF6C692AF}"/>
              </a:ext>
            </a:extLst>
          </p:cNvPr>
          <p:cNvSpPr/>
          <p:nvPr/>
        </p:nvSpPr>
        <p:spPr>
          <a:xfrm>
            <a:off x="11425010" y="1629417"/>
            <a:ext cx="524774" cy="39241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BB787E3-2D56-9646-22A0-6A2949EC6941}"/>
              </a:ext>
            </a:extLst>
          </p:cNvPr>
          <p:cNvSpPr/>
          <p:nvPr/>
        </p:nvSpPr>
        <p:spPr>
          <a:xfrm>
            <a:off x="4682706" y="4001294"/>
            <a:ext cx="1131497" cy="39241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BB55B-F169-2EC9-B032-8C92A40B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Download Servo Library:</a:t>
            </a:r>
            <a:endParaRPr lang="en-US"/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26F3993B-11C6-B4C5-807F-33B5A381EC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32440" y="1401220"/>
            <a:ext cx="3589651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E12EB3-F8A2-EAFE-B462-EC604AF6713D}"/>
              </a:ext>
            </a:extLst>
          </p:cNvPr>
          <p:cNvSpPr txBox="1"/>
          <p:nvPr/>
        </p:nvSpPr>
        <p:spPr>
          <a:xfrm>
            <a:off x="837235" y="1695691"/>
            <a:ext cx="424790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  <a:cs typeface="Segoe UI"/>
              </a:rPr>
              <a:t>Steps:​</a:t>
            </a:r>
          </a:p>
          <a:p>
            <a:pPr marL="514350" indent="-514350">
              <a:buFont typeface=""/>
              <a:buAutoNum type="arabicPeriod"/>
            </a:pPr>
            <a:r>
              <a:rPr lang="en-US" dirty="0">
                <a:latin typeface="Aptos"/>
                <a:cs typeface="Arial"/>
              </a:rPr>
              <a:t>Click on the library manager icon on the left side of the screen​</a:t>
            </a:r>
          </a:p>
          <a:p>
            <a:pPr marL="514350" indent="-514350">
              <a:buFont typeface=""/>
              <a:buAutoNum type="arabicPeriod"/>
            </a:pPr>
            <a:r>
              <a:rPr lang="en-US" dirty="0">
                <a:latin typeface="Aptos"/>
                <a:cs typeface="Arial"/>
              </a:rPr>
              <a:t>Search "</a:t>
            </a:r>
            <a:r>
              <a:rPr lang="en-US" dirty="0" err="1">
                <a:latin typeface="Aptos"/>
                <a:cs typeface="Arial"/>
              </a:rPr>
              <a:t>Servo.h</a:t>
            </a:r>
            <a:r>
              <a:rPr lang="en-US" dirty="0">
                <a:latin typeface="Aptos"/>
                <a:cs typeface="Arial"/>
              </a:rPr>
              <a:t>"​</a:t>
            </a:r>
          </a:p>
          <a:p>
            <a:pPr marL="514350" indent="-514350">
              <a:buFont typeface=""/>
              <a:buAutoNum type="arabicPeriod"/>
            </a:pPr>
            <a:r>
              <a:rPr lang="en-US" dirty="0">
                <a:latin typeface="Aptos"/>
                <a:cs typeface="Arial"/>
              </a:rPr>
              <a:t>Install the servo library</a:t>
            </a:r>
          </a:p>
        </p:txBody>
      </p:sp>
    </p:spTree>
    <p:extLst>
      <p:ext uri="{BB962C8B-B14F-4D97-AF65-F5344CB8AC3E}">
        <p14:creationId xmlns:p14="http://schemas.microsoft.com/office/powerpoint/2010/main" val="2605109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DC4A6-F0F7-C677-5D7F-83C950D51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Project: Smart Train Crossing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D5DE3-D042-31C1-06D4-C771B1BEB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Solar Powered Railroad Crossing Signal">
            <a:extLst>
              <a:ext uri="{FF2B5EF4-FFF2-40B4-BE49-F238E27FC236}">
                <a16:creationId xmlns:a16="http://schemas.microsoft.com/office/drawing/2014/main" id="{7DA95B30-C010-9C90-2D65-1695AA1AA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6252" y="267419"/>
            <a:ext cx="2197278" cy="323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Realistic train vector illustration concept | Premium Vector">
            <a:extLst>
              <a:ext uri="{FF2B5EF4-FFF2-40B4-BE49-F238E27FC236}">
                <a16:creationId xmlns:a16="http://schemas.microsoft.com/office/drawing/2014/main" id="{B3392529-B0FA-F989-42EC-6060C4B7F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52" y="267419"/>
            <a:ext cx="3230592" cy="323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23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30173-230D-3F8F-C3DF-856D46443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Materials Needed: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8448E-D8E5-4375-EB1B-E3E6BD5BF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68" y="1426373"/>
            <a:ext cx="7063596" cy="4351338"/>
          </a:xfrm>
        </p:spPr>
        <p:txBody>
          <a:bodyPr vert="horz" lIns="91440" tIns="45720" rIns="91440" bIns="45720" numCol="2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Arduino </a:t>
            </a:r>
          </a:p>
          <a:p>
            <a:r>
              <a:rPr lang="en-US" dirty="0">
                <a:ea typeface="Calibri"/>
                <a:cs typeface="Calibri"/>
              </a:rPr>
              <a:t>Ultrasonic sensor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Jumper wires</a:t>
            </a:r>
          </a:p>
          <a:p>
            <a:r>
              <a:rPr lang="en-US" dirty="0">
                <a:ea typeface="Calibri"/>
                <a:cs typeface="Calibri"/>
              </a:rPr>
              <a:t>1 bread board</a:t>
            </a:r>
          </a:p>
          <a:p>
            <a:r>
              <a:rPr lang="en-US" dirty="0">
                <a:ea typeface="Calibri"/>
                <a:cs typeface="Calibri"/>
              </a:rPr>
              <a:t>3 220 Ω resistors</a:t>
            </a:r>
          </a:p>
          <a:p>
            <a:r>
              <a:rPr lang="en-US" dirty="0">
                <a:ea typeface="Calibri"/>
                <a:cs typeface="Calibri"/>
              </a:rPr>
              <a:t>3 LEDs</a:t>
            </a:r>
          </a:p>
          <a:p>
            <a:r>
              <a:rPr lang="en-US" dirty="0">
                <a:ea typeface="Calibri"/>
                <a:cs typeface="Calibri"/>
              </a:rPr>
              <a:t>1 Servo Motor</a:t>
            </a: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2" descr="Amazon.com: Reland Sung Ultrasonic Module Distance Measuring Sonar Sensor  Module for Arduino : Industrial &amp; Scientific">
            <a:extLst>
              <a:ext uri="{FF2B5EF4-FFF2-40B4-BE49-F238E27FC236}">
                <a16:creationId xmlns:a16="http://schemas.microsoft.com/office/drawing/2014/main" id="{BFE58559-193E-4162-AAEC-12482E8F5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776" y="1690692"/>
            <a:ext cx="1249393" cy="1249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ite-On2.6 V Red LED 5mm Through Hole, LTL-307E">
            <a:extLst>
              <a:ext uri="{FF2B5EF4-FFF2-40B4-BE49-F238E27FC236}">
                <a16:creationId xmlns:a16="http://schemas.microsoft.com/office/drawing/2014/main" id="{3DF02595-C68B-DD4B-51D2-71EE2ABDC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464" y="1690692"/>
            <a:ext cx="1346800" cy="134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Arduino - Wikipedia">
            <a:extLst>
              <a:ext uri="{FF2B5EF4-FFF2-40B4-BE49-F238E27FC236}">
                <a16:creationId xmlns:a16="http://schemas.microsoft.com/office/drawing/2014/main" id="{A390C13C-9B7C-F0FF-7BFC-27EBF8733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776" y="3702034"/>
            <a:ext cx="1249393" cy="1249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SG90 180 Degrees 9G Micro Servo Motor Tower Pro">
            <a:extLst>
              <a:ext uri="{FF2B5EF4-FFF2-40B4-BE49-F238E27FC236}">
                <a16:creationId xmlns:a16="http://schemas.microsoft.com/office/drawing/2014/main" id="{C48CE635-B221-498C-6A2D-1079F8B9F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464" y="3702034"/>
            <a:ext cx="1249393" cy="1249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 descr="Good source and brand of jumper wires? - General Electronics - Arduino Forum">
            <a:extLst>
              <a:ext uri="{FF2B5EF4-FFF2-40B4-BE49-F238E27FC236}">
                <a16:creationId xmlns:a16="http://schemas.microsoft.com/office/drawing/2014/main" id="{3E414AED-FA6C-F064-93A0-BE299CEF9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357" y="1690692"/>
            <a:ext cx="2017082" cy="134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MCMF0W2FF2200A10 MULTICOMP PRO, Through Hole Resistor, 220 ohm, MCMF Series  | Newark Electronics">
            <a:extLst>
              <a:ext uri="{FF2B5EF4-FFF2-40B4-BE49-F238E27FC236}">
                <a16:creationId xmlns:a16="http://schemas.microsoft.com/office/drawing/2014/main" id="{F39E735F-1A42-98C3-8A6B-E28A5E123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357" y="3708400"/>
            <a:ext cx="2017082" cy="1249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4596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D842-8492-FEAE-551B-C9ADFCF46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C1CD3-5C8E-42A2-29EB-99DCC8647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>
              <a:ea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1DC835-3A6A-9C70-F904-C1C935DF46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15"/>
          <a:stretch>
            <a:fillRect/>
          </a:stretch>
        </p:blipFill>
        <p:spPr>
          <a:xfrm rot="16200000">
            <a:off x="3784286" y="189874"/>
            <a:ext cx="4172164" cy="64782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4997BC-02CE-14B4-A363-2A2BD0DC8449}"/>
              </a:ext>
            </a:extLst>
          </p:cNvPr>
          <p:cNvSpPr txBox="1"/>
          <p:nvPr/>
        </p:nvSpPr>
        <p:spPr>
          <a:xfrm>
            <a:off x="9109494" y="6107502"/>
            <a:ext cx="2244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*Made in Fritzing</a:t>
            </a:r>
          </a:p>
        </p:txBody>
      </p:sp>
    </p:spTree>
    <p:extLst>
      <p:ext uri="{BB962C8B-B14F-4D97-AF65-F5344CB8AC3E}">
        <p14:creationId xmlns:p14="http://schemas.microsoft.com/office/powerpoint/2010/main" val="16655139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99693-F09B-A341-F03E-53AF85D67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Circuit</a:t>
            </a:r>
            <a:endParaRPr lang="en-US"/>
          </a:p>
        </p:txBody>
      </p:sp>
      <p:pic>
        <p:nvPicPr>
          <p:cNvPr id="4" name="Content Placeholder 3" descr="A circuit board with wires&#10;&#10;AI-generated content may be incorrect.">
            <a:extLst>
              <a:ext uri="{FF2B5EF4-FFF2-40B4-BE49-F238E27FC236}">
                <a16:creationId xmlns:a16="http://schemas.microsoft.com/office/drawing/2014/main" id="{1F0E1C61-1C0A-2C79-CDF7-DABBA94A4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0069" y="1257354"/>
            <a:ext cx="9161827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2480BE-1530-49E0-B00E-A7F63F5C6B66}"/>
              </a:ext>
            </a:extLst>
          </p:cNvPr>
          <p:cNvSpPr txBox="1"/>
          <p:nvPr/>
        </p:nvSpPr>
        <p:spPr>
          <a:xfrm>
            <a:off x="9109494" y="6107502"/>
            <a:ext cx="2244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*Made in </a:t>
            </a:r>
            <a:r>
              <a:rPr lang="en-US" dirty="0" err="1"/>
              <a:t>TinkerCad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394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E3B5A-4DE7-9EF0-8F93-FD08904BE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Remember When Wiring: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5E3BD-8CCD-6B02-C082-5CFE30B8A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Attach power to the breadboard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Attach ground to the breadboard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Voltage rating for components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LEDs long lead to power, short to ground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7351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68B80-C15E-674F-2A35-B1D60A67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B0043-7FF2-90A1-2C13-888A860E6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729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42FE1-942C-B725-529D-C462D5D73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19" y="171816"/>
            <a:ext cx="10515600" cy="1325563"/>
          </a:xfrm>
        </p:spPr>
        <p:txBody>
          <a:bodyPr/>
          <a:lstStyle/>
          <a:p>
            <a:r>
              <a:rPr lang="en-US" dirty="0"/>
              <a:t>Errors for Mac Users: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4057B8-3043-8595-3557-B33F892254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97782"/>
            <a:ext cx="5498394" cy="14602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23BE57-5179-9B55-81D9-7DF5B17ECA3D}"/>
              </a:ext>
            </a:extLst>
          </p:cNvPr>
          <p:cNvSpPr txBox="1"/>
          <p:nvPr/>
        </p:nvSpPr>
        <p:spPr>
          <a:xfrm>
            <a:off x="405441" y="1434872"/>
            <a:ext cx="103775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*only for Mac users</a:t>
            </a:r>
          </a:p>
          <a:p>
            <a:r>
              <a:rPr lang="en-US" dirty="0"/>
              <a:t>To Fix: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the dropdown to see your currently connected port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“Select other board and port”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Check you are connecting to an Arduino Uno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Unplug your Arduino and plug it back in. Watch for what port appears when you plug back in and select that one. 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F1BA21-055F-FC39-42E2-EFB5AB43AC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148"/>
          <a:stretch>
            <a:fillRect/>
          </a:stretch>
        </p:blipFill>
        <p:spPr>
          <a:xfrm>
            <a:off x="332117" y="3622341"/>
            <a:ext cx="4114800" cy="1802599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661AB491-70DE-A85A-3C2E-DD53ABCC1671}"/>
              </a:ext>
            </a:extLst>
          </p:cNvPr>
          <p:cNvSpPr/>
          <p:nvPr/>
        </p:nvSpPr>
        <p:spPr>
          <a:xfrm>
            <a:off x="1591572" y="3998025"/>
            <a:ext cx="2562046" cy="54346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949FDE-706C-3B16-8C46-1FDC2868F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797" y="3568895"/>
            <a:ext cx="1897890" cy="1873558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68BD38E6-B7E1-8E23-111D-F518377D679C}"/>
              </a:ext>
            </a:extLst>
          </p:cNvPr>
          <p:cNvSpPr/>
          <p:nvPr/>
        </p:nvSpPr>
        <p:spPr>
          <a:xfrm>
            <a:off x="4955797" y="5083771"/>
            <a:ext cx="1835989" cy="33935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809F72-7B56-CBEB-B8CD-D30DD2F2C9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7125" y="3139648"/>
            <a:ext cx="3761826" cy="2732053"/>
          </a:xfrm>
          <a:prstGeom prst="rect">
            <a:avLst/>
          </a:prstGeom>
        </p:spPr>
      </p:pic>
      <p:sp>
        <p:nvSpPr>
          <p:cNvPr id="15" name="Oval 14" descr="1&#10;">
            <a:extLst>
              <a:ext uri="{FF2B5EF4-FFF2-40B4-BE49-F238E27FC236}">
                <a16:creationId xmlns:a16="http://schemas.microsoft.com/office/drawing/2014/main" id="{4798E881-2D11-D861-B8FE-03BB84B38B3E}"/>
              </a:ext>
            </a:extLst>
          </p:cNvPr>
          <p:cNvSpPr/>
          <p:nvPr/>
        </p:nvSpPr>
        <p:spPr>
          <a:xfrm>
            <a:off x="9248958" y="3658668"/>
            <a:ext cx="447133" cy="33935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Oval 15" descr="1&#10;">
            <a:extLst>
              <a:ext uri="{FF2B5EF4-FFF2-40B4-BE49-F238E27FC236}">
                <a16:creationId xmlns:a16="http://schemas.microsoft.com/office/drawing/2014/main" id="{EDF52EF7-E8C6-F8DC-B278-8AB0DFC205A0}"/>
              </a:ext>
            </a:extLst>
          </p:cNvPr>
          <p:cNvSpPr/>
          <p:nvPr/>
        </p:nvSpPr>
        <p:spPr>
          <a:xfrm>
            <a:off x="7651636" y="3584894"/>
            <a:ext cx="447133" cy="33935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Oval 16" descr="1&#10;">
            <a:extLst>
              <a:ext uri="{FF2B5EF4-FFF2-40B4-BE49-F238E27FC236}">
                <a16:creationId xmlns:a16="http://schemas.microsoft.com/office/drawing/2014/main" id="{C5E3E697-B852-4B79-9A1F-E5FFE259B276}"/>
              </a:ext>
            </a:extLst>
          </p:cNvPr>
          <p:cNvSpPr/>
          <p:nvPr/>
        </p:nvSpPr>
        <p:spPr>
          <a:xfrm>
            <a:off x="4967386" y="3622341"/>
            <a:ext cx="447133" cy="33935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Oval 17" descr="1&#10;">
            <a:extLst>
              <a:ext uri="{FF2B5EF4-FFF2-40B4-BE49-F238E27FC236}">
                <a16:creationId xmlns:a16="http://schemas.microsoft.com/office/drawing/2014/main" id="{23FFD905-5048-88F4-1ABF-CF2D78E531FE}"/>
              </a:ext>
            </a:extLst>
          </p:cNvPr>
          <p:cNvSpPr/>
          <p:nvPr/>
        </p:nvSpPr>
        <p:spPr>
          <a:xfrm>
            <a:off x="429886" y="3708482"/>
            <a:ext cx="447133" cy="33935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528009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9BD69-DCB0-52E1-3B7B-A2C2134C7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857" y="137752"/>
            <a:ext cx="10515600" cy="1325563"/>
          </a:xfrm>
        </p:spPr>
        <p:txBody>
          <a:bodyPr/>
          <a:lstStyle/>
          <a:p>
            <a:r>
              <a:rPr lang="en-US" dirty="0"/>
              <a:t>Initializations/Setup():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F6156-706B-B628-9813-314E77A21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495" y="1253331"/>
            <a:ext cx="608881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Initializations:</a:t>
            </a:r>
          </a:p>
          <a:p>
            <a:r>
              <a:rPr lang="en-US" sz="2200" dirty="0">
                <a:ea typeface="Calibri"/>
                <a:cs typeface="Calibri"/>
              </a:rPr>
              <a:t>Declaring all pins as const int (integers that won't change)</a:t>
            </a:r>
          </a:p>
          <a:p>
            <a:r>
              <a:rPr lang="en-US" sz="2200" dirty="0">
                <a:ea typeface="Calibri"/>
                <a:cs typeface="Calibri"/>
              </a:rPr>
              <a:t>Creating a Servo named “servo”</a:t>
            </a:r>
          </a:p>
          <a:p>
            <a:pPr marL="0" indent="0">
              <a:buNone/>
            </a:pPr>
            <a:endParaRPr lang="en-US"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Setup()</a:t>
            </a:r>
          </a:p>
          <a:p>
            <a:r>
              <a:rPr lang="en-US" sz="2200" dirty="0">
                <a:ea typeface="Calibri"/>
                <a:cs typeface="Calibri"/>
              </a:rPr>
              <a:t>Setting pins as inputs or outputs</a:t>
            </a:r>
          </a:p>
          <a:p>
            <a:r>
              <a:rPr lang="en-US" sz="2200" dirty="0">
                <a:ea typeface="Calibri"/>
                <a:cs typeface="Calibri"/>
              </a:rPr>
              <a:t>Starting the Serial Monitor</a:t>
            </a:r>
          </a:p>
          <a:p>
            <a:r>
              <a:rPr lang="en-US" sz="2200" dirty="0">
                <a:ea typeface="Calibri"/>
                <a:cs typeface="Calibri"/>
              </a:rPr>
              <a:t>Attaching the servo</a:t>
            </a:r>
          </a:p>
          <a:p>
            <a:r>
              <a:rPr lang="en-US" sz="2200" dirty="0">
                <a:ea typeface="Calibri"/>
                <a:cs typeface="Calibri"/>
              </a:rPr>
              <a:t>Bringing the servo to the initial position</a:t>
            </a:r>
          </a:p>
          <a:p>
            <a:endParaRPr lang="en-US" sz="220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DF8F9A-1F3A-6F64-8AD3-2452A2C1EA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037"/>
          <a:stretch>
            <a:fillRect/>
          </a:stretch>
        </p:blipFill>
        <p:spPr>
          <a:xfrm>
            <a:off x="7176334" y="713895"/>
            <a:ext cx="3529047" cy="470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3586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6D715-A4F6-1F6B-A61D-0486681FB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Distance in Loop():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148C4-E29A-25BB-7595-25F21017D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604" y="1677460"/>
            <a:ext cx="4794849" cy="4351338"/>
          </a:xfrm>
        </p:spPr>
        <p:txBody>
          <a:bodyPr>
            <a:normAutofit/>
          </a:bodyPr>
          <a:lstStyle/>
          <a:p>
            <a:r>
              <a:rPr lang="en-US" sz="2200" dirty="0"/>
              <a:t>Send a pulse out and wait for it to bounce back</a:t>
            </a:r>
          </a:p>
          <a:p>
            <a:r>
              <a:rPr lang="en-US" sz="2200" dirty="0"/>
              <a:t>Calculate the distance from the measured time</a:t>
            </a:r>
          </a:p>
          <a:p>
            <a:r>
              <a:rPr lang="en-US" sz="2200" dirty="0"/>
              <a:t>Print the distance in the serial monitor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97AD63-4157-2B99-752B-A746B00B6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84" y="1677460"/>
            <a:ext cx="6645215" cy="288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0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FCBF1-3475-F30F-F7BE-87DCA209B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Turning on LEDs and Motor in Loop():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EFCD5-ADDD-54F0-7085-C263045F2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751717" cy="4351338"/>
          </a:xfrm>
        </p:spPr>
        <p:txBody>
          <a:bodyPr>
            <a:normAutofit/>
          </a:bodyPr>
          <a:lstStyle/>
          <a:p>
            <a:r>
              <a:rPr lang="en-US" sz="2200" dirty="0"/>
              <a:t>If/else statements to determine what LED lights up</a:t>
            </a:r>
          </a:p>
          <a:p>
            <a:r>
              <a:rPr lang="en-US" sz="2200" dirty="0"/>
              <a:t>Prints the State in the serial monitor</a:t>
            </a:r>
          </a:p>
          <a:p>
            <a:r>
              <a:rPr lang="en-US" sz="2200" dirty="0"/>
              <a:t>If the distance is close, servo will move, stop for 2 seconds, and move back to the initial position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87F7B2-8AF0-6DFB-C20E-F4EE3D604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789" y="1690692"/>
            <a:ext cx="5594058" cy="395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2185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C0DFA-2E9E-CC87-249B-13AEC93E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Code Corrections: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0F12F-9F02-3C6E-149E-51616580E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323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ea typeface="Calibri"/>
                <a:cs typeface="Calibri"/>
              </a:rPr>
              <a:t>Line 1: Delete the "//"</a:t>
            </a:r>
          </a:p>
          <a:p>
            <a:pPr lvl="1">
              <a:buFont typeface="Courier New"/>
              <a:buChar char="o"/>
            </a:pPr>
            <a:r>
              <a:rPr lang="en-US" sz="2000" dirty="0">
                <a:ea typeface="Calibri"/>
                <a:cs typeface="Calibri"/>
              </a:rPr>
              <a:t>"//" in front of anything symbolizes it is being commented out. A comment makes it so what you type will not be ran by the compiler. This is how you can document code and write notes.</a:t>
            </a:r>
          </a:p>
          <a:p>
            <a:r>
              <a:rPr lang="en-US" sz="2000" dirty="0">
                <a:ea typeface="Calibri"/>
                <a:cs typeface="Calibri"/>
              </a:rPr>
              <a:t>Line 32: Change </a:t>
            </a:r>
            <a:r>
              <a:rPr lang="en-US" sz="2000" err="1">
                <a:ea typeface="Calibri"/>
                <a:cs typeface="Calibri"/>
              </a:rPr>
              <a:t>digitalwrite</a:t>
            </a:r>
            <a:r>
              <a:rPr lang="en-US" sz="2000" dirty="0">
                <a:ea typeface="Calibri"/>
                <a:cs typeface="Calibri"/>
              </a:rPr>
              <a:t>()-&gt; </a:t>
            </a:r>
            <a:r>
              <a:rPr lang="en-US" sz="2000" err="1">
                <a:ea typeface="Calibri"/>
                <a:cs typeface="Calibri"/>
              </a:rPr>
              <a:t>digitalWrite</a:t>
            </a:r>
            <a:r>
              <a:rPr lang="en-US" sz="2000" dirty="0">
                <a:ea typeface="Calibri"/>
                <a:cs typeface="Calibri"/>
              </a:rPr>
              <a:t>()</a:t>
            </a:r>
          </a:p>
          <a:p>
            <a:pPr lvl="1">
              <a:buFont typeface="Courier New"/>
              <a:buChar char="o"/>
            </a:pPr>
            <a:r>
              <a:rPr lang="en-US" sz="2000" dirty="0">
                <a:ea typeface="Calibri"/>
                <a:cs typeface="Calibri"/>
              </a:rPr>
              <a:t>In coding, common practice is to capitalize the first letter of the second word since you are unable to use spaces. You may also see "_" in place of a space</a:t>
            </a:r>
          </a:p>
          <a:p>
            <a:r>
              <a:rPr lang="en-US" sz="2000" dirty="0">
                <a:ea typeface="Calibri"/>
                <a:cs typeface="Calibri"/>
              </a:rPr>
              <a:t>Line 67: delay(2) -&gt; delay(2000)</a:t>
            </a:r>
          </a:p>
          <a:p>
            <a:pPr lvl="1">
              <a:buFont typeface="Courier New"/>
              <a:buChar char="o"/>
            </a:pPr>
            <a:r>
              <a:rPr lang="en-US" sz="2000" dirty="0">
                <a:ea typeface="Calibri"/>
                <a:cs typeface="Calibri"/>
              </a:rPr>
              <a:t>The delay function takes inputs in milliseconds. If the delay is too slow the motor will not get a chance to move</a:t>
            </a:r>
          </a:p>
          <a:p>
            <a:r>
              <a:rPr lang="en-US" sz="2000" dirty="0">
                <a:ea typeface="Calibri"/>
                <a:cs typeface="Calibri"/>
              </a:rPr>
              <a:t>Line 72: Delete the "//"</a:t>
            </a:r>
          </a:p>
          <a:p>
            <a:pPr lvl="1">
              <a:buFont typeface="Courier New"/>
              <a:buChar char="o"/>
            </a:pPr>
            <a:r>
              <a:rPr lang="en-US" sz="2000" dirty="0">
                <a:ea typeface="Calibri"/>
                <a:cs typeface="Calibri"/>
              </a:rPr>
              <a:t>This is to slow down the rate the data is being received. This change can be seen in the Serial Monitor </a:t>
            </a:r>
          </a:p>
        </p:txBody>
      </p:sp>
    </p:spTree>
    <p:extLst>
      <p:ext uri="{BB962C8B-B14F-4D97-AF65-F5344CB8AC3E}">
        <p14:creationId xmlns:p14="http://schemas.microsoft.com/office/powerpoint/2010/main" val="2642932405"/>
      </p:ext>
    </p:extLst>
  </p:cSld>
  <p:clrMapOvr>
    <a:masterClrMapping/>
  </p:clrMapOvr>
</p:sld>
</file>

<file path=ppt/theme/theme1.xml><?xml version="1.0" encoding="utf-8"?>
<a:theme xmlns:a="http://schemas.openxmlformats.org/drawingml/2006/main" name="Triple A Batteries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EEB231AA46BD4A9BA5B69C652E4E25" ma:contentTypeVersion="16" ma:contentTypeDescription="Create a new document." ma:contentTypeScope="" ma:versionID="8c9a0dd6a3f5e97ae79d6a17c9b16ebb">
  <xsd:schema xmlns:xsd="http://www.w3.org/2001/XMLSchema" xmlns:xs="http://www.w3.org/2001/XMLSchema" xmlns:p="http://schemas.microsoft.com/office/2006/metadata/properties" xmlns:ns3="8750250d-93bf-45fd-9562-d8ff4287bc3a" xmlns:ns4="f37d458b-dd55-4ed7-b0c3-2f5d0b49c997" targetNamespace="http://schemas.microsoft.com/office/2006/metadata/properties" ma:root="true" ma:fieldsID="38477a1b4887a9cd0a82fcde1537078e" ns3:_="" ns4:_="">
    <xsd:import namespace="8750250d-93bf-45fd-9562-d8ff4287bc3a"/>
    <xsd:import namespace="f37d458b-dd55-4ed7-b0c3-2f5d0b49c99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50250d-93bf-45fd-9562-d8ff4287b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7d458b-dd55-4ed7-b0c3-2f5d0b49c99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750250d-93bf-45fd-9562-d8ff4287bc3a" xsi:nil="true"/>
  </documentManagement>
</p:properties>
</file>

<file path=customXml/itemProps1.xml><?xml version="1.0" encoding="utf-8"?>
<ds:datastoreItem xmlns:ds="http://schemas.openxmlformats.org/officeDocument/2006/customXml" ds:itemID="{3DCF3CB8-D10B-4CA2-8329-3819A41274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50250d-93bf-45fd-9562-d8ff4287bc3a"/>
    <ds:schemaRef ds:uri="f37d458b-dd55-4ed7-b0c3-2f5d0b49c9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BCCA1C-23C6-4B55-AF38-F95E1FAB0E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AD8FB2-36F9-4F50-9E6B-805F07123859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f37d458b-dd55-4ed7-b0c3-2f5d0b49c997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8750250d-93bf-45fd-9562-d8ff4287bc3a"/>
  </ds:schemaRefs>
</ds:datastoreItem>
</file>

<file path=docMetadata/LabelInfo.xml><?xml version="1.0" encoding="utf-8"?>
<clbl:labelList xmlns:clbl="http://schemas.microsoft.com/office/2020/mipLabelMetadata">
  <clbl:label id="{e51cdec9-811d-471d-bbe6-dd3d8d54c28b}" enabled="0" method="" siteId="{e51cdec9-811d-471d-bbe6-dd3d8d54c2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Triple A Batteries Presentation</Template>
  <TotalTime>4364</TotalTime>
  <Words>1145</Words>
  <Application>Microsoft Office PowerPoint</Application>
  <PresentationFormat>Widescreen</PresentationFormat>
  <Paragraphs>185</Paragraphs>
  <Slides>38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Calibri</vt:lpstr>
      <vt:lpstr>Calibri Light</vt:lpstr>
      <vt:lpstr>Courier New</vt:lpstr>
      <vt:lpstr>Triple A Batteries Presentation</vt:lpstr>
      <vt:lpstr>Arduino Class</vt:lpstr>
      <vt:lpstr>Download Arduino IDE:</vt:lpstr>
      <vt:lpstr>Hardware Basics:</vt:lpstr>
      <vt:lpstr>What is an Arduino?</vt:lpstr>
      <vt:lpstr>Overview of Circuits:</vt:lpstr>
      <vt:lpstr>What is a Breadboard?</vt:lpstr>
      <vt:lpstr>Powering the Breadboard:</vt:lpstr>
      <vt:lpstr>Fix: Lighting an LED:</vt:lpstr>
      <vt:lpstr>Digital vs Analog Pins:</vt:lpstr>
      <vt:lpstr>PWM (Pulse Width Modulation):</vt:lpstr>
      <vt:lpstr>Types of Motors:</vt:lpstr>
      <vt:lpstr>DC Motor:</vt:lpstr>
      <vt:lpstr>Stepper Motor: </vt:lpstr>
      <vt:lpstr>Servo Motor:</vt:lpstr>
      <vt:lpstr>Other Hardware:</vt:lpstr>
      <vt:lpstr>Ultrasonic Sensor:</vt:lpstr>
      <vt:lpstr>LED:</vt:lpstr>
      <vt:lpstr>Coding Basics:</vt:lpstr>
      <vt:lpstr>Useful Definitions:</vt:lpstr>
      <vt:lpstr>If/Else Statement:</vt:lpstr>
      <vt:lpstr>For Loop:</vt:lpstr>
      <vt:lpstr>While Loop:</vt:lpstr>
      <vt:lpstr>Arduino Initial Code:</vt:lpstr>
      <vt:lpstr>Void Setup():</vt:lpstr>
      <vt:lpstr>Void Loop():</vt:lpstr>
      <vt:lpstr>Serial Monitor:</vt:lpstr>
      <vt:lpstr>Download Servo Library:</vt:lpstr>
      <vt:lpstr>Project: Smart Train Crossing</vt:lpstr>
      <vt:lpstr>Materials Needed:</vt:lpstr>
      <vt:lpstr>Schematic: </vt:lpstr>
      <vt:lpstr>Circuit</vt:lpstr>
      <vt:lpstr>Things to Remember When Wiring:</vt:lpstr>
      <vt:lpstr>Code:</vt:lpstr>
      <vt:lpstr>Errors for Mac Users:</vt:lpstr>
      <vt:lpstr>Initializations/Setup(): </vt:lpstr>
      <vt:lpstr>Measuring Distance in Loop():</vt:lpstr>
      <vt:lpstr>Turning on LEDs and Motor in Loop():</vt:lpstr>
      <vt:lpstr>Code Corrections: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Arduino Class</dc:title>
  <dc:creator>Olivia Magiera</dc:creator>
  <cp:lastModifiedBy>Olivia Magiera</cp:lastModifiedBy>
  <cp:revision>128</cp:revision>
  <dcterms:created xsi:type="dcterms:W3CDTF">2025-09-23T13:18:39Z</dcterms:created>
  <dcterms:modified xsi:type="dcterms:W3CDTF">2026-07-04T21:45:47Z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0x010100B1EEB231AA46BD4A9BA5B69C652E4E25</vt:lpwstr>
  </property>
</Properties>
</file>